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4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9E50-A973-4D57-5514-61C694D96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3B425-DABD-F6C3-9550-2122A9630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81C00-19EA-1DC3-C4CA-3F1B8093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CE1CA-914B-779F-5171-C9C9D727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BF8FD-E1FA-0525-CC06-4F530252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94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5533-5053-EC61-72B7-F739EC4A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564B-539D-4896-9391-B4AD2FF11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9444-2198-C7BB-BA7C-E6A0DF70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0FA42-46EB-C885-018B-E8D19A1C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0A6A-4FD6-E7A2-5DED-6232B746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4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FADB-2F1F-6116-73FF-ECFC29A4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26770-9277-D2D9-B0CF-DE301201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C5BF8-F4C2-62B9-99CF-B22B10C7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2C1F4-02E2-1785-1A8F-84DBDB4B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50B0-255B-E4DD-37A4-35D0D175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0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6E98-2EBC-37F2-AA84-9F7047C5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9851-2F4C-1C14-8A25-521B90AD0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FA498-E9DF-E80B-DDEA-67A13106D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60AB5-9BA1-57CF-6253-EED5BB1D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F3088-3CB5-9F73-6837-81B525B1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12C00-E261-0361-03A1-1F8B1213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07F3-9DD8-BF9F-B696-C4FEB352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73E5E-7D02-B953-EE7A-A2C52A5B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05469-1153-D140-7180-1F767E4DF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C649C-C748-BF13-9126-211998A83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28B98-B165-ABA9-3034-E9CEDBFC1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80D54-780D-46FA-AADE-B6449B3F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D1FAB-4098-0F0D-D7C0-C8BA3035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88ED1-3695-631C-0174-70002D53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6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3FC-6A2F-1A67-6CEA-7DB19ECF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F2A73-E93E-642E-CB73-4E4F372F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C6454-1B0D-9D4F-88A8-C48E3877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8227D-B6DA-7AC2-B026-9E1A8690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5213A-217C-DD6A-096B-3F1F0A91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D7089-89E2-307A-A984-FA9C62DE7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2ED38-3E60-FDB0-30BA-E3C412E0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26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DDE2-0E80-3155-5B81-341289D9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EDF1-2DD0-2CE3-9ED9-948D3A4B7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A90D5-C2C2-3FB2-A883-998011CEA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3D20C-BD62-2731-B759-CDB98C90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0C774-CEAE-9DF7-812A-A7F242D9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14BED-0748-C7E3-7076-CBF4BFFD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0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100E-D1E8-0248-4BEB-033047B6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C14AD-79B7-2F78-D815-EF5F34C04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F6A28-A400-8714-1BA9-097C1B0E6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FF7DE-272C-6A1D-002F-A25E4A8A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69EAE-CEDC-C6F6-91A4-04F304A0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1D486-A031-ECFC-FA26-60E5A863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7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51B0-FAB2-6091-5A48-A152EA16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42343-F624-6607-0DE4-29DDD7687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19F2-DBF7-A607-0860-AC8A1D00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616F7-D3CF-9B62-B7AD-D366F18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B71E0-80BA-9CDF-27B2-E20822D3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67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F2450-D16E-100B-A31A-2CDC60A08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5F7FF-E342-CD8E-5FBF-E6D97808A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BFE15-B15B-1C26-1AFE-8E0AB7A3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3882-AF93-66F4-59D2-8031BDAC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40C5-53C9-6F5D-B04D-2E02371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53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B251B-F457-EC64-D089-8DC4276B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72817-8862-55BB-2994-D974B655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FADB6-7421-8C6B-A1BE-63937CFB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BECAB-2E07-4D0D-9FD6-90C32D437B4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1605F-C0B6-FA45-7EB2-73E60CAE1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9C98-8A5A-9F33-AFF3-5102AE746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6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9EBF97-4C93-47A7-F82F-374E0AA71975}"/>
              </a:ext>
            </a:extLst>
          </p:cNvPr>
          <p:cNvSpPr txBox="1"/>
          <p:nvPr/>
        </p:nvSpPr>
        <p:spPr>
          <a:xfrm>
            <a:off x="609600" y="239485"/>
            <a:ext cx="1104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Overview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3D45B-3649-BF91-38BE-D6E278053A3A}"/>
              </a:ext>
            </a:extLst>
          </p:cNvPr>
          <p:cNvSpPr/>
          <p:nvPr/>
        </p:nvSpPr>
        <p:spPr>
          <a:xfrm>
            <a:off x="9108625" y="790114"/>
            <a:ext cx="2375803" cy="1850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Research Impact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40B37-EC29-36FA-8410-7601DC872889}"/>
              </a:ext>
            </a:extLst>
          </p:cNvPr>
          <p:cNvSpPr/>
          <p:nvPr/>
        </p:nvSpPr>
        <p:spPr>
          <a:xfrm>
            <a:off x="609598" y="790114"/>
            <a:ext cx="2373086" cy="1850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Total Universities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B012D-38BF-9DEE-2EFD-9BFA35BDA635}"/>
              </a:ext>
            </a:extLst>
          </p:cNvPr>
          <p:cNvSpPr/>
          <p:nvPr/>
        </p:nvSpPr>
        <p:spPr>
          <a:xfrm>
            <a:off x="3419478" y="790114"/>
            <a:ext cx="2484660" cy="1850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Overall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BD291D-CC75-4DA0-86DF-C08B0C673F76}"/>
              </a:ext>
            </a:extLst>
          </p:cNvPr>
          <p:cNvSpPr/>
          <p:nvPr/>
        </p:nvSpPr>
        <p:spPr>
          <a:xfrm>
            <a:off x="6340932" y="790114"/>
            <a:ext cx="2375803" cy="1814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Research Productivity Index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A7D451-3B0C-172C-AD47-550F7B656670}"/>
              </a:ext>
            </a:extLst>
          </p:cNvPr>
          <p:cNvSpPr/>
          <p:nvPr/>
        </p:nvSpPr>
        <p:spPr>
          <a:xfrm>
            <a:off x="8094891" y="3258684"/>
            <a:ext cx="3389537" cy="12047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Universities by Research Impact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57CED-2D62-230D-464E-39E808AF44F0}"/>
              </a:ext>
            </a:extLst>
          </p:cNvPr>
          <p:cNvSpPr/>
          <p:nvPr/>
        </p:nvSpPr>
        <p:spPr>
          <a:xfrm>
            <a:off x="609596" y="3266054"/>
            <a:ext cx="3531053" cy="1197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Universities by Overall 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7D02A9-722C-1841-7721-7E34A15392DB}"/>
              </a:ext>
            </a:extLst>
          </p:cNvPr>
          <p:cNvSpPr/>
          <p:nvPr/>
        </p:nvSpPr>
        <p:spPr>
          <a:xfrm>
            <a:off x="4423001" y="3266054"/>
            <a:ext cx="3389537" cy="1223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University Distribution by Region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13520A-81B0-57E3-C67C-F423A1D702DB}"/>
              </a:ext>
            </a:extLst>
          </p:cNvPr>
          <p:cNvSpPr/>
          <p:nvPr/>
        </p:nvSpPr>
        <p:spPr>
          <a:xfrm>
            <a:off x="609597" y="5088850"/>
            <a:ext cx="10874831" cy="1197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Countries by Number of Universities</a:t>
            </a:r>
          </a:p>
        </p:txBody>
      </p:sp>
    </p:spTree>
    <p:extLst>
      <p:ext uri="{BB962C8B-B14F-4D97-AF65-F5344CB8AC3E}">
        <p14:creationId xmlns:p14="http://schemas.microsoft.com/office/powerpoint/2010/main" val="214325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A51DD9-D1D0-CFCD-674B-3A286C1ED4F6}"/>
              </a:ext>
            </a:extLst>
          </p:cNvPr>
          <p:cNvSpPr/>
          <p:nvPr/>
        </p:nvSpPr>
        <p:spPr>
          <a:xfrm>
            <a:off x="805542" y="859969"/>
            <a:ext cx="4103914" cy="2301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CE051-2BC1-B496-9F1D-B925161EB2B6}"/>
              </a:ext>
            </a:extLst>
          </p:cNvPr>
          <p:cNvSpPr/>
          <p:nvPr/>
        </p:nvSpPr>
        <p:spPr>
          <a:xfrm>
            <a:off x="5744936" y="859968"/>
            <a:ext cx="4073976" cy="2301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Impact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5C341-CC18-D6A3-09B1-E7BDF7D4A66B}"/>
              </a:ext>
            </a:extLst>
          </p:cNvPr>
          <p:cNvSpPr/>
          <p:nvPr/>
        </p:nvSpPr>
        <p:spPr>
          <a:xfrm>
            <a:off x="805542" y="3522429"/>
            <a:ext cx="3537857" cy="2900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 Productivity Index by Region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3E58B-5170-63B6-101F-5B8B997B8B7D}"/>
              </a:ext>
            </a:extLst>
          </p:cNvPr>
          <p:cNvSpPr/>
          <p:nvPr/>
        </p:nvSpPr>
        <p:spPr>
          <a:xfrm>
            <a:off x="4675415" y="3522428"/>
            <a:ext cx="3445328" cy="2900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 Impact Score by Region </a:t>
            </a:r>
          </a:p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B41D1A-F7F2-210B-6F43-4F848C72CED3}"/>
              </a:ext>
            </a:extLst>
          </p:cNvPr>
          <p:cNvSpPr/>
          <p:nvPr/>
        </p:nvSpPr>
        <p:spPr>
          <a:xfrm>
            <a:off x="8452759" y="3522428"/>
            <a:ext cx="3537857" cy="2900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 by Research Productivity Index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5C895-A511-6488-75B3-5885E677D61E}"/>
              </a:ext>
            </a:extLst>
          </p:cNvPr>
          <p:cNvSpPr txBox="1"/>
          <p:nvPr/>
        </p:nvSpPr>
        <p:spPr>
          <a:xfrm>
            <a:off x="3458935" y="293914"/>
            <a:ext cx="5056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60925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8CEC8A-253C-E63E-213D-2C4C752DB945}"/>
              </a:ext>
            </a:extLst>
          </p:cNvPr>
          <p:cNvSpPr/>
          <p:nvPr/>
        </p:nvSpPr>
        <p:spPr>
          <a:xfrm>
            <a:off x="870857" y="849086"/>
            <a:ext cx="2144486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26090-6985-A558-AA67-566F0059664D}"/>
              </a:ext>
            </a:extLst>
          </p:cNvPr>
          <p:cNvSpPr/>
          <p:nvPr/>
        </p:nvSpPr>
        <p:spPr>
          <a:xfrm>
            <a:off x="9024255" y="849086"/>
            <a:ext cx="2155373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A0870-1A36-90AA-30C6-3D8ED0EEBD59}"/>
              </a:ext>
            </a:extLst>
          </p:cNvPr>
          <p:cNvSpPr/>
          <p:nvPr/>
        </p:nvSpPr>
        <p:spPr>
          <a:xfrm>
            <a:off x="6349092" y="849086"/>
            <a:ext cx="2155373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QS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6B0ED2-3D08-60D2-A29E-E60A60663441}"/>
              </a:ext>
            </a:extLst>
          </p:cNvPr>
          <p:cNvSpPr/>
          <p:nvPr/>
        </p:nvSpPr>
        <p:spPr>
          <a:xfrm>
            <a:off x="3663042" y="849086"/>
            <a:ext cx="2166261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03241-13CF-505A-26FF-34E06B428C13}"/>
              </a:ext>
            </a:extLst>
          </p:cNvPr>
          <p:cNvSpPr/>
          <p:nvPr/>
        </p:nvSpPr>
        <p:spPr>
          <a:xfrm>
            <a:off x="870857" y="2830287"/>
            <a:ext cx="4958446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 by Overall Score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71C732-6DD3-20FC-7F89-FD8241FFA3B6}"/>
              </a:ext>
            </a:extLst>
          </p:cNvPr>
          <p:cNvSpPr/>
          <p:nvPr/>
        </p:nvSpPr>
        <p:spPr>
          <a:xfrm>
            <a:off x="6357257" y="2830287"/>
            <a:ext cx="4958445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 Universities QS Score</a:t>
            </a:r>
          </a:p>
          <a:p>
            <a:pPr algn="ctr"/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2955A0-D06A-BE85-5C76-95FE62C74889}"/>
              </a:ext>
            </a:extLst>
          </p:cNvPr>
          <p:cNvSpPr/>
          <p:nvPr/>
        </p:nvSpPr>
        <p:spPr>
          <a:xfrm>
            <a:off x="834118" y="4811488"/>
            <a:ext cx="3128283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 by Region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1F8C7-9124-FF52-590A-A4B0E7517D84}"/>
              </a:ext>
            </a:extLst>
          </p:cNvPr>
          <p:cNvSpPr/>
          <p:nvPr/>
        </p:nvSpPr>
        <p:spPr>
          <a:xfrm>
            <a:off x="8229600" y="4811488"/>
            <a:ext cx="3086102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 Score by Region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2C615F-E7C7-F6DE-3292-45654DA9A1BC}"/>
              </a:ext>
            </a:extLst>
          </p:cNvPr>
          <p:cNvSpPr txBox="1"/>
          <p:nvPr/>
        </p:nvSpPr>
        <p:spPr>
          <a:xfrm>
            <a:off x="2764969" y="298456"/>
            <a:ext cx="6259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/>
              <a:t>Rankings &amp; Reputation Dashboard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22F2E5-D6DB-4E3A-4B1F-078AA4D78CAA}"/>
              </a:ext>
            </a:extLst>
          </p:cNvPr>
          <p:cNvSpPr/>
          <p:nvPr/>
        </p:nvSpPr>
        <p:spPr>
          <a:xfrm>
            <a:off x="4526414" y="4811488"/>
            <a:ext cx="3128283" cy="1589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QS Score by Region</a:t>
            </a:r>
          </a:p>
        </p:txBody>
      </p:sp>
    </p:spTree>
    <p:extLst>
      <p:ext uri="{BB962C8B-B14F-4D97-AF65-F5344CB8AC3E}">
        <p14:creationId xmlns:p14="http://schemas.microsoft.com/office/powerpoint/2010/main" val="322123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9CEB4D-699F-637F-0D11-FEB8DE4A6A0B}"/>
              </a:ext>
            </a:extLst>
          </p:cNvPr>
          <p:cNvSpPr/>
          <p:nvPr/>
        </p:nvSpPr>
        <p:spPr>
          <a:xfrm>
            <a:off x="685800" y="838200"/>
            <a:ext cx="2242457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Countries Represented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9E34A-3815-B5B5-AB91-19EF0989C473}"/>
              </a:ext>
            </a:extLst>
          </p:cNvPr>
          <p:cNvSpPr/>
          <p:nvPr/>
        </p:nvSpPr>
        <p:spPr>
          <a:xfrm>
            <a:off x="3570513" y="887186"/>
            <a:ext cx="2242457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82996-40FD-F96E-E9D9-E5B70A920CE1}"/>
              </a:ext>
            </a:extLst>
          </p:cNvPr>
          <p:cNvSpPr/>
          <p:nvPr/>
        </p:nvSpPr>
        <p:spPr>
          <a:xfrm>
            <a:off x="6455226" y="887186"/>
            <a:ext cx="2242457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Index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49382E-1504-0764-BA05-0B085DFB8F36}"/>
              </a:ext>
            </a:extLst>
          </p:cNvPr>
          <p:cNvSpPr/>
          <p:nvPr/>
        </p:nvSpPr>
        <p:spPr>
          <a:xfrm>
            <a:off x="9263743" y="838200"/>
            <a:ext cx="2242457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Impact Score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F1772-91EA-3002-7B1C-641E0BF82E10}"/>
              </a:ext>
            </a:extLst>
          </p:cNvPr>
          <p:cNvSpPr/>
          <p:nvPr/>
        </p:nvSpPr>
        <p:spPr>
          <a:xfrm>
            <a:off x="696685" y="2759529"/>
            <a:ext cx="5127171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Countries by Overall Score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D8A940-F4F4-E997-B00C-4928AA2C897D}"/>
              </a:ext>
            </a:extLst>
          </p:cNvPr>
          <p:cNvSpPr/>
          <p:nvPr/>
        </p:nvSpPr>
        <p:spPr>
          <a:xfrm>
            <a:off x="685799" y="4696284"/>
            <a:ext cx="5127171" cy="1534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 by Region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91C3B-14E6-8F10-D129-AF4B29C65B94}"/>
              </a:ext>
            </a:extLst>
          </p:cNvPr>
          <p:cNvSpPr/>
          <p:nvPr/>
        </p:nvSpPr>
        <p:spPr>
          <a:xfrm>
            <a:off x="6444342" y="4696283"/>
            <a:ext cx="5061857" cy="1534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Distribution by Region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AC163-C203-3F9B-F861-C6E377AD4BD6}"/>
              </a:ext>
            </a:extLst>
          </p:cNvPr>
          <p:cNvSpPr/>
          <p:nvPr/>
        </p:nvSpPr>
        <p:spPr>
          <a:xfrm>
            <a:off x="6444343" y="2759528"/>
            <a:ext cx="5061857" cy="1534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Country by Research Productivity Index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65CB0-A565-B287-DA1C-A185B5B3EC23}"/>
              </a:ext>
            </a:extLst>
          </p:cNvPr>
          <p:cNvSpPr txBox="1"/>
          <p:nvPr/>
        </p:nvSpPr>
        <p:spPr>
          <a:xfrm>
            <a:off x="3216728" y="195943"/>
            <a:ext cx="5268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Countries Dashboard</a:t>
            </a:r>
          </a:p>
        </p:txBody>
      </p:sp>
    </p:spTree>
    <p:extLst>
      <p:ext uri="{BB962C8B-B14F-4D97-AF65-F5344CB8AC3E}">
        <p14:creationId xmlns:p14="http://schemas.microsoft.com/office/powerpoint/2010/main" val="256196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125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Anusha Cherukuru</dc:creator>
  <cp:lastModifiedBy>Anusha Cherukuru</cp:lastModifiedBy>
  <cp:revision>1</cp:revision>
  <dcterms:created xsi:type="dcterms:W3CDTF">2026-07-25T16:33:03Z</dcterms:created>
  <dcterms:modified xsi:type="dcterms:W3CDTF">2026-07-25T18:23:33Z</dcterms:modified>
</cp:coreProperties>
</file>